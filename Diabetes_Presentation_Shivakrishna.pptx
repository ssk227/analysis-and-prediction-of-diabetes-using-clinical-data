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1200" b="0" i="0" u="none" strike="noStrike">
                <a:solidFill>
                  <a:srgbClr val="000000"/>
                </a:solidFill>
                <a:latin typeface="Arial"/>
              </a:rPr>
              <a:t>Class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8E-4377-8A16-9F881FB0D64A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8E-4377-8A16-9F881FB0D64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8E-4377-8A16-9F881FB0D64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8E-4377-8A16-9F881FB0D64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Non-Diabetic (65.1%)</c:v>
                </c:pt>
                <c:pt idx="1">
                  <c:v>Diabetic (34.9%)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8E-4377-8A16-9F881FB0D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1200" b="0" i="0" u="none" strike="noStrike">
                <a:solidFill>
                  <a:srgbClr val="000000"/>
                </a:solidFill>
                <a:latin typeface="Arial"/>
              </a:rPr>
              <a:t>Invalid Zero Values per Feature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 Count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Insulin</c:v>
                </c:pt>
                <c:pt idx="1">
                  <c:v>SkinThick</c:v>
                </c:pt>
                <c:pt idx="2">
                  <c:v>BP</c:v>
                </c:pt>
                <c:pt idx="3">
                  <c:v>BMI</c:v>
                </c:pt>
                <c:pt idx="4">
                  <c:v>Glucose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374</c:v>
                </c:pt>
                <c:pt idx="1">
                  <c:v>227</c:v>
                </c:pt>
                <c:pt idx="2">
                  <c:v>35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D3-42E9-9CBF-3ED708B9D0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1200" b="0" i="0" u="none" strike="noStrike">
                <a:solidFill>
                  <a:srgbClr val="000000"/>
                </a:solidFill>
                <a:latin typeface="Arial"/>
              </a:rPr>
              <a:t>Baseline Model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AdaBoost</c:v>
                </c:pt>
                <c:pt idx="1">
                  <c:v>XGBoost</c:v>
                </c:pt>
                <c:pt idx="2">
                  <c:v>Grad. Boost</c:v>
                </c:pt>
                <c:pt idx="3">
                  <c:v>Decision Tree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84.8</c:v>
                </c:pt>
                <c:pt idx="1">
                  <c:v>82.3</c:v>
                </c:pt>
                <c:pt idx="2">
                  <c:v>78.5</c:v>
                </c:pt>
                <c:pt idx="3">
                  <c:v>72.2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0D-4397-AAEA-CDFF9EB7B5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 ×100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AdaBoost</c:v>
                </c:pt>
                <c:pt idx="1">
                  <c:v>XGBoost</c:v>
                </c:pt>
                <c:pt idx="2">
                  <c:v>Grad. Boost</c:v>
                </c:pt>
                <c:pt idx="3">
                  <c:v>Decision Tree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</c:v>
                </c:pt>
                <c:pt idx="1">
                  <c:v>74.099999999999994</c:v>
                </c:pt>
                <c:pt idx="2">
                  <c:v>65.3</c:v>
                </c:pt>
                <c:pt idx="3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0D-4397-AAEA-CDFF9EB7B5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AdaBoost</c:v>
                </c:pt>
                <c:pt idx="1">
                  <c:v>XGBoost</c:v>
                </c:pt>
                <c:pt idx="2">
                  <c:v>Grad. Boost</c:v>
                </c:pt>
                <c:pt idx="3">
                  <c:v>Decision Tree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73.099999999999994</c:v>
                </c:pt>
                <c:pt idx="1">
                  <c:v>76.900000000000006</c:v>
                </c:pt>
                <c:pt idx="2">
                  <c:v>61.5</c:v>
                </c:pt>
                <c:pt idx="3">
                  <c:v>65.400000000000006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0D-4397-AAEA-CDFF9EB7B5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F1 Score: Before vs After Tuning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 (F1×100)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AdaBoost</c:v>
                </c:pt>
                <c:pt idx="1">
                  <c:v>Grad. Boost</c:v>
                </c:pt>
                <c:pt idx="2">
                  <c:v>Dec. Tree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</c:v>
                </c:pt>
                <c:pt idx="1">
                  <c:v>65.3</c:v>
                </c:pt>
                <c:pt idx="2">
                  <c:v>60.7</c:v>
                </c:pt>
                <c:pt idx="3">
                  <c:v>74.099999999999994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17-45A2-8584-2D674CB292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Tuning (F1×100)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AdaBoost</c:v>
                </c:pt>
                <c:pt idx="1">
                  <c:v>Grad. Boost</c:v>
                </c:pt>
                <c:pt idx="2">
                  <c:v>Dec. Tree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73.5</c:v>
                </c:pt>
                <c:pt idx="1">
                  <c:v>73.099999999999994</c:v>
                </c:pt>
                <c:pt idx="2">
                  <c:v>71.7</c:v>
                </c:pt>
                <c:pt idx="3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17-45A2-8584-2D674CB292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1200" b="0" i="0" u="none" strike="noStrike">
                <a:solidFill>
                  <a:srgbClr val="000000"/>
                </a:solidFill>
                <a:latin typeface="Arial"/>
              </a:rPr>
              <a:t>Feature Importance — AdaBoost Model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Glucose</c:v>
                </c:pt>
                <c:pt idx="1">
                  <c:v>BMI</c:v>
                </c:pt>
                <c:pt idx="2">
                  <c:v>Age</c:v>
                </c:pt>
                <c:pt idx="3">
                  <c:v>DiabetesPedigree</c:v>
                </c:pt>
                <c:pt idx="4">
                  <c:v>Insulin</c:v>
                </c:pt>
                <c:pt idx="5">
                  <c:v>BP</c:v>
                </c:pt>
                <c:pt idx="6">
                  <c:v>SkinThick</c:v>
                </c:pt>
                <c:pt idx="7">
                  <c:v>Pregnancies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0.38</c:v>
                </c:pt>
                <c:pt idx="1">
                  <c:v>0.22</c:v>
                </c:pt>
                <c:pt idx="2">
                  <c:v>0.15</c:v>
                </c:pt>
                <c:pt idx="3">
                  <c:v>0.1</c:v>
                </c:pt>
                <c:pt idx="4">
                  <c:v>0.06</c:v>
                </c:pt>
                <c:pt idx="5">
                  <c:v>0.04</c:v>
                </c:pt>
                <c:pt idx="6">
                  <c:v>0.03</c:v>
                </c:pt>
                <c:pt idx="7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8-45FA-B203-A1643888FA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55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Clinical and Demographic Health Indicators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060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Shivakrishna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Student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Hertfordshire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[Your GitHub Link Here]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389120"/>
            <a:ext cx="82296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 Diabetes Dataset  •  768 Patients  •  4 ML Models  •  Ensemble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16459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physiological factors have the strongest influence on the likelihood of developing diabetes?"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194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5786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6974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Understand the structure of the diabetes dataset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Perform Exploratory Data Analysis (EDA)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Identify key physiological risk factors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Preprocess data for quality and reliability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Build and evaluate ML classification models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Provide actionable medical insights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01168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4320" y="1673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with diabetes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(2021)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051560"/>
            <a:ext cx="2011680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23160" y="1673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2045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(IDF Atlas)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201168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1673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(Pima Indian)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051560"/>
            <a:ext cx="201168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1673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dataset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86000"/>
            <a:ext cx="16459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40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Machine Learning?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697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diabetes reduces life-threatening complications (cardiovascular disease, kidney failure, blindness).  Machine learning can identify complex patterns in clinical data that traditional methods miss, enabling proactive healthcare interventions.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376732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 Diabetes Dataset — female patients of Pima Indian heritage — historically high prevalence of Type 2 diabetes due to genetic and lifestyle factors.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Tasin et al. (2023)  —  Healthcare Technology Letters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307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 Forest + SVM + SHAP XAI   |   Finding: Glucose, BMI &amp; Age are top predictors. SHAP used for interpretability.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554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Our work: Same dataset; we focus on boosting &amp; tuning, not XAI.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6596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Iparraguirre-Villanueva et al. (2023)  —  Diagnostics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267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 Forest + SMOTE oversampling   |   Finding: SMOTE improved recall on imbalanced data.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14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Our work: We use stratified split; they use SMOTE — different imbalance strategies.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 (2023)  —  Diagnostics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227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AdaBoost, GB, RF, KNN compared   |   Finding: Random Forest achieved CV score of 0.998 on clinical data.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Our work: We add GridSearchCV tuning — their models used default parameters.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88620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Agliata et al. (2023)  —  Int. Journal of Molecular Sciences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187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Artificial Neural Network (ANN)   |   Finding: ANN excels at capturing nonlinear relationships.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Our work: ANN needs large data; our ~392-record dataset suits ensemble methods better.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69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Diabetes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Digestive and Kidney Diseases (NIDDK)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via UCI ML Repository / Kaggle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24128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69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Facts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3350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Rows  •  9 Columns  •  8 Features + 1 Target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Female  •  Pima Indian Heritage  •  Age ≥ 21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65.1% Non-Diabetic / 34.9% Diabetic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50592"/>
          <a:ext cx="8595360" cy="23042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Plasma glucose (2-hr OGTT)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diabetes diagnostic marker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obesity &amp; diabetes risk 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 (years)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risk increases with 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2-hr serum insulin (mu U/ml)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resistance — hallmark of T2D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 BP (mm Hg)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 comorbidity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Triceps skinfold (mm)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for body fat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DiabetesPedigreeFunction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risk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Hereditary diabetes 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pregnancies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risk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05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0789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Ethics Committee Approval 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3898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dataset — no surveys, interviews, or personal data collection involved in this project.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0584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05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10789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Anonymised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3898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names, addresses, or personally identifiable information in any record of the dataset.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04288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04288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68833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use, purpose limitation, data minimisation, and confidentiality principles observed throughout.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30428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304288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304288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8833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accessed via reputable public platforms only. Stored securely; not shared with third parties.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02736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02736"/>
            <a:ext cx="5029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0273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3675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 Acknowledgement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98678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limited to Pima Indian females aged 21+. Models may not generalise to other demographics.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602736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3602736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60273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57800" y="3675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Use Only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98678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not presented as a clinical diagnostic tool. For research and educational purposes only.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005840"/>
          <a:ext cx="34747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3931920" y="1005840"/>
          <a:ext cx="49377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033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4023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shows strongest separation between classes  •  Insulin has 374 invalid zeros (48.7%)  •  Moderate class imbalance (65%/35%)  •  Minimal multicollinearity among features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7772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058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069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Invalid Zeros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3533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values in Glucose, BloodPressure, SkinThickness, Insulin, BMI are physiologically impossible → treated as missing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0136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01368"/>
            <a:ext cx="7772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0136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18653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NaN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1488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invalid zeros replaced with NaN using df.replace(0, np.nan) for the five affected clinical features.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96896"/>
            <a:ext cx="7772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9689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26609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Missing Rows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9443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NaN values dropped using df.dropna(). Dataset reduced from 768 → 392 records, preserving clinical validity.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92424"/>
            <a:ext cx="7772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9242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3456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739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 with stratify=y to maintain proportional class representation in both subsets.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87952"/>
            <a:ext cx="7772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8795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88720" y="4251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5354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applied — </a:t>
            </a:r>
            <a:r>
              <a:rPr lang="en-US" sz="1000" dirty="0"/>
              <a:t>I used tree-based boosting models, which do not require feature scaling.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24128"/>
            <a:ext cx="41605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24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 —  Gradient Boosting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ensemble — each tree corrects errors of the previous one using gradient descent optimisation. Strong on structured tabular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2412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24128"/>
            <a:ext cx="4160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024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 —  XGBoost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GB with regularisation, column subsampling &amp; parallel computation. Prevents overfitting; computationally efficient.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44368"/>
            <a:ext cx="416052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44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 —  AdaBoost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— increases weights of misclassified instances iteratively. Particularly effective on imbalanced datasets.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94436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944368"/>
            <a:ext cx="41605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944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 —  Decision Tree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47472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binary splits on feature thresholds. Included as interpretable baseline for comparison against ensemble methods.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6817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models? Literature (Tasin et al., Nguyen et al.) consistently shows boosting methods outperform single classifiers for diabetes prediction.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Baseline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024128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024128"/>
          <a:ext cx="2971800" cy="16398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89320" y="3017520"/>
            <a:ext cx="2880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89320" y="3017520"/>
            <a:ext cx="13716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36208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36208" y="3337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the priority metric in medical diagnosis — missing a diabetic patient (false negative) carries serious clinical risk.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74320" y="44074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AdaBoost = best overall baseline  •  XGBoost = highest recall (76.9%)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115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GridSearchCV with Stratified 5-Fold Cross Validation  —  scoring metric: F1 Score  —  n_jobs=-1 (parallel)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83080"/>
          <a:ext cx="8595360" cy="1493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Searched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Parameters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n_estimators, learning_rate, max_depth, subsample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lr=0.1, depth=3, n=100, sub=0.8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n_estimators, learning_rate, max_depth, subsample, colsample_bytree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lr=0.1, depth=4, n=200, col=0.8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n_estimators, learning_rate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lr=0.5, n=100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max_depth, min_samples_split, min_samples_leaf, 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depth=3, entropy, split=2, leaf=1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Chart 0"/>
          <p:cNvGraphicFramePr/>
          <p:nvPr/>
        </p:nvGraphicFramePr>
        <p:xfrm>
          <a:off x="274320" y="3291840"/>
          <a:ext cx="859536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4846320"/>
            <a:ext cx="850392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00584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1005840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100584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060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= #1 Predictor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13533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clinical consensus — elevated blood glucose is the definitive T2D biomarker.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1920240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06440" y="192024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9751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= #2 Predictor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22677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lifestyle interventions targeting obesity as primary prevention strategy.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2834640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283464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28895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post-tuning drop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80760" y="31821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XGB settings were already well-calibrated; small dataset limited tuning benefit.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06440" y="3749040"/>
            <a:ext cx="3063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06440" y="374904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8039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improved most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40965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depth=3 prevented overfitting → F1 improved from 0.607 → 0.717.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" y="4526280"/>
            <a:ext cx="8686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26" name="Text 23"/>
          <p:cNvSpPr/>
          <p:nvPr/>
        </p:nvSpPr>
        <p:spPr>
          <a:xfrm>
            <a:off x="457200" y="46307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498209" y="457885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reduced 768→392 after preprocessing  •  Female Pima Indian heritage only — limited generalisability  •  No SMOTE used  •  No external validation dataset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= best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 accuracy, F1 = 0.76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= strongest predictor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BMI &amp; 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&gt; single classifiers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literature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960120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improved GB &amp; DT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best at defaults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2852928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KNN/median imputation instead of row deletion — preserve more data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Implement SMOTE oversampling to fully address class imbalance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SHAP explainability for clinical interpretability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on diverse, multi-demographic external datasets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Investigate deep learning architectures (ANN, LSTM) for temporal patterns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[Your GitHub Link Here]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 of Diabetes  |  Shivakrishna  |  University of Hertfordshire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Agliata, A., Giordano, D., Bardozzo, F., Bottiglieri, S., Facchiano, A. and Tagliaferri, R. (2023) 'Machine learning as a support for the diagnosis of type 2 diabetes', International Journal of Molecular Sciences, 24(7), p. 6775. Available at: https://pmc.ncbi.nlm.nih.gov/articles/PMC10095542/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International Diabetes Federation (2021) IDF Diabetes Atlas, 10th edn. Brussels: IDF. Available at: https://www.diabetesatlas.org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Iparraguirre-Villanueva, O. et al. (2023) 'Application of machine learning models for early detection and accurate classification of type 2 diabetes', Diagnostics, 13(14), p. 2383. Available at: https://pmc.ncbi.nlm.nih.gov/articles/PMC10378239/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National Institute of Diabetes and Digestive and Kidney Diseases (NIDDK) (1988) Pima Indians Diabetes Dataset. Available at: https://www.kaggle.com/datasets/uciml/pima-indians-diabetes-database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Nguyen, L.P. et al. (2023) 'The utilisation of machine learning algorithms for assisting physicians in the diagnosis of diabetes', Diagnostics, 13(12), p. 2087. Available at: https://www.mdpi.com/2075-4418/13/12/2087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Tasin, I., Nabil, T.U., Islam, S. and Khan, R. (2023) 'Diabetes prediction using machine learning and explainable AI techniques', Healthcare Technology Letters, 10(1-2), pp. 1-10. Available at: https://pmc.ncbi.nlm.nih.gov/articles/PMC10107388/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1911</Words>
  <Application>Microsoft Office PowerPoint</Application>
  <PresentationFormat>On-screen Show (16:9)</PresentationFormat>
  <Paragraphs>268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and Prediction of Diabetes</dc:title>
  <dc:subject>PptxGenJS Presentation</dc:subject>
  <dc:creator>Shivakrishna</dc:creator>
  <cp:lastModifiedBy>shiva krishna sriramadasu</cp:lastModifiedBy>
  <cp:revision>3</cp:revision>
  <dcterms:created xsi:type="dcterms:W3CDTF">2026-03-16T17:51:07Z</dcterms:created>
  <dcterms:modified xsi:type="dcterms:W3CDTF">2026-03-24T13:32:03Z</dcterms:modified>
</cp:coreProperties>
</file>